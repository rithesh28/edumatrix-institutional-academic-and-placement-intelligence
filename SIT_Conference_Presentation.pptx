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handoutMasterIdLst>
    <p:handoutMasterId r:id="rId5"/>
  </p:handoutMasterIdLst>
  <p:sldIdLst>
    <p:sldId id="257" r:id="rId3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A67010-4435-4AC6-9D02-A3DF77FD01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BA9D-298A-4DAB-818A-8C55A4192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8D3AE-9DFE-4D1D-B0F2-F55617FE86C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A2E9C-67E2-4FD6-BEEF-F81BF28402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828F3-CC54-43BF-83AC-C7A0AE1C0E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21BC5-BF1E-498B-AD58-0AC2656F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6431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15D8D-3B31-40DA-9E42-BC30A8CBC94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C0D5B-9E7B-44F7-8CDA-DA71D3210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697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9712-43AF-4B2A-9B49-FA6EBEC6C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8065-2253-4FFE-9344-84E92F627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8FAB-C8BF-4CE6-BF8B-8DDE45FF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A198D-788D-4ABA-B37C-CD4B8C6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4D20-74EB-4C4C-84DF-03D432AB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5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F2026-96F3-465F-8D33-C8BC772C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F548-B6DD-415B-9D43-B454EA73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B04AD-3E16-4CA0-882B-B9FFAD97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C9FB-5EBF-476A-AE90-8D8E9DA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A8F1A-9124-436C-9363-78AA980D270F}"/>
              </a:ext>
            </a:extLst>
          </p:cNvPr>
          <p:cNvSpPr txBox="1"/>
          <p:nvPr userDrawn="1"/>
        </p:nvSpPr>
        <p:spPr>
          <a:xfrm>
            <a:off x="7441095" y="34113"/>
            <a:ext cx="475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MBA</a:t>
            </a:r>
            <a:endParaRPr lang="en-IN" sz="18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651078-B533-4F4F-A8BD-93C96A9FD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330" y="-122944"/>
            <a:ext cx="3866322" cy="1436823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A10DC23C-EE97-47A9-AA76-3C2B120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3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54B-D07F-4C8E-BA74-57140CB8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B1AA2-0084-4301-95BE-BAFB018E3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AA92-52F5-4448-881B-FC4B5864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DDAC-CD57-411F-BEF0-990F2A7A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E9EA-186E-435D-82FE-500F6B7F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4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F6E8-6877-4843-B2F9-7F1627E7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8EB-E832-4D9C-BF2B-58FFAD0B3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C89B-1BA5-494B-AE76-2A6C36D14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EE3DC-8C61-4E58-8E6C-8493CF2F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0583-0431-4DB9-8B4A-8823B4B6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73CE-01A2-4294-BE54-7AA9F94E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8A82-C51F-4FC9-8521-E456205D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45D49-8695-4B1A-8AB5-07B3B1573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3D9E6-6721-4F54-9439-23842AF85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93661-0629-454A-9E89-AFDE6036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B2F9F-47FB-4422-B354-FA212EECA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3A3E6-DF62-47F7-A0D7-9C312F5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25832-DE61-49EE-A77D-ADD2490B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07F17-E70D-4ADE-B317-CB53ABBD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30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FA4D-08E8-4EF5-A6E3-F9A8A9F0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B1FC4-B251-4108-910C-B64002B6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9FA9C-97AF-457F-A628-F4151539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B3A9E-000C-442A-B4D2-3B1E0995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7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9B3E6-8F10-4E68-B6A9-5B321D98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7CFED-91B7-4DBC-B517-0D330F38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C077-66AA-4FAE-82FB-F6716CA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09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E149-B88F-4CC7-9B08-A3361253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33373-2A4D-4055-B6E5-66288477E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D9A54-0875-400F-8F01-4F5CA9B2E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24029-6E50-4A09-B2C2-9B8ED77D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D39D0-68FE-413F-9CBB-76095CA2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CDD8C-4E7B-4F56-9F82-428CAFA4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76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5FAA-1537-41BD-9C3B-AC35BBB8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5DB94-A76E-49A0-8A99-D96C2B71A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1CCF-B526-4A6D-87FC-8DB7671A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D6231-7987-4ADD-9D6A-C725FEE6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E27CD-E765-46BE-8289-A5D0A427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4CAAE-4245-4866-AD71-2BC0094F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45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0FD3-6294-48D5-BFE1-CBEE3E04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8C3E8-FFEF-43FE-813D-E35B1917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20B2-3F9F-43C3-A914-2D6834E8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C5EA7-858E-48A4-9CB5-E48DCCF6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5797-9558-4135-A425-9A270874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3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3414F-A88F-40CC-BEF3-0664D4B20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B0BE2-B8CD-4D7C-A2D5-B8E909024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AFED-33F5-4BF2-A284-BBAA97F7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5229F-3846-491F-AE1A-48A7BE70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FA4D-3BD7-4354-9254-C43A78DE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50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1A78-37F1-4FA0-A541-688079B7C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639F2-9F22-4270-B3CF-323DE3AE5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A920-D3AA-4286-B1AD-BDBA26E2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D5A6-8406-40D8-BCA5-1A3CCEAD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643F-DF71-442B-82A5-2DBC2FB6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2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8BA3-E56C-42AE-919B-AA4CDCF6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25BB-B85B-4910-BA70-D40ED283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1250-BFB8-42E9-9623-78CB8A2B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930BE-30B1-482C-AAC0-D80C953C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AB1C-91EB-44FA-9EF3-AD00D66F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35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DA02-E032-4CB7-BEFA-85BA693E1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4D64-36A0-41B8-B79E-89D276290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5AC7-07A5-4702-B720-40592232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CFB5-6012-448D-B254-27C4AEBE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6234-ADFC-4935-B33A-F65253D5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64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6528-CFEA-4BC8-8DFD-FFD3B529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CD71-EF26-48F2-8AEB-000882A33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3F12-7240-49E9-B95D-412633B7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C2320-865D-4D99-940D-C9395B4C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F6EC-0C7A-4DBF-95E1-7F714D53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9866B-0B5C-456C-891F-3CDB324D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9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8C2F-89CE-489A-8731-6F11FFB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1D2C1-67E0-4DC6-AA31-0F66EF7C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972BD-659F-461E-B84E-A482DCEC9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611E4-747A-446C-BF7E-46E8CCD1F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0F01A-E8AF-4DDE-B249-B69781D19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24BB6-CFB1-46FB-8D8B-24287BD8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8E77-8159-4990-9AC2-F4D3B084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90CF3-D14E-490C-828D-4AD7C9E8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65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D535-78C6-42F2-9134-9EC6E924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A88C2-B37D-4B27-90C8-609B676C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EFD8A-06DF-417D-BD30-81687FFA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16F77-7EC1-4082-B143-8C29014E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47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34A21-7232-43CC-A4CA-B83BCE24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A0B1D-40B5-461D-8966-F478E9BB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E38D-42F0-4927-A2CD-6A74282E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2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CCA7-BA79-4C53-9E77-CD3325FA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418F7-564B-48ED-AAF1-C6B74DC7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C4117-E71F-4095-8B82-1FE6ACB7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3A2A9-45A1-4E98-B346-B61C1AB6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3C00E-334B-4979-B189-3DB23ADE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7804E-A313-412F-BBBD-2793B83E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8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E95-2FC6-4328-9790-04CD66C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14F83-43D4-4B3A-A33A-76CE97EC5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2C14D-C272-4826-8506-F3FDE733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91BDF-EADD-4C6B-9757-78BB2AC1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AA435-7A5A-4F34-A9C0-F7967488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CBD50-B005-4E38-8590-8E1BA11A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02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946E-A0EF-4BD4-B0F3-CD21AE86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8A8B1-E7EF-4327-A1ED-E2D90B5E7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EBA5-3B80-4872-B51D-40C2CAE0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39733-FBB6-4868-8204-6868ADA3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7C22-6DC1-422F-9929-A39466B7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50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1F8FD-CEE5-4D9C-9C4D-BF924465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5FA0F-523C-4F36-A093-D88B33AD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751B2-1CD6-4F43-A877-0CBF6C02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C8F6C-8784-4137-97BD-8434E1E7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A714C-1015-4ECC-A5E8-43335524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DCCED-203B-4094-9E2E-7A49851E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B4C4D-C632-41A1-957F-5D1EAA92B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92E5-B22C-495B-9E32-80210BB38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A0AE0-E50A-412E-9B44-88AE2E756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78E1-2A17-458E-B49D-6811D938A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8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AF381-F40D-4FF0-A22E-68B8700A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9517F-7DFD-48BA-A960-FAB1A07D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305B-7F2D-4CFE-AACE-2CCF85527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BBAF-6A8A-440E-8F1B-7F0808E7A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F3EF-7EE4-4FDF-921B-3FF5A7650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4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5039-12BE-43C8-81BA-9ED15100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080" y="6311900"/>
            <a:ext cx="11470640" cy="373379"/>
          </a:xfrm>
        </p:spPr>
        <p:txBody>
          <a:bodyPr/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B45309"/>
                </a:solidFill>
                <a:latin typeface="Arial"/>
              </a:rPr>
              <a:t>INTERNATIONAL CONFERENCE ON INNOVATIVE PATHWAYS TO SUSTAINABLE BUSINESS: AI, ESG &amp; RESPONSIBLE LEADERSHIP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0F2240"/>
                </a:solidFill>
                <a:latin typeface="Arial"/>
              </a:rPr>
              <a:t>EduMatrix: Institutional Academic and
Placement Intelligence System</a:t>
            </a:r>
          </a:p>
          <a:p>
            <a:pPr algn="ctr">
              <a:spcAft>
                <a:spcPts val="10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Adithya C S¹    |    Manikanta¹    |    Pushanth S B¹    |    </a:t>
            </a:r>
            <a:r>
              <a:rPr sz="1300" b="1">
                <a:solidFill>
                  <a:srgbClr val="0F2240"/>
                </a:solidFill>
                <a:latin typeface="Arial"/>
              </a:rPr>
              <a:t>Rithesh N D¹* (Presenter)</a:t>
            </a:r>
            <a:r>
              <a:rPr sz="1300">
                <a:solidFill>
                  <a:srgbClr val="1E293B"/>
                </a:solidFill>
                <a:latin typeface="Arial"/>
              </a:rPr>
              <a:t>    |    Nidhishree M P²</a:t>
            </a:r>
          </a:p>
          <a:p>
            <a:pPr algn="ctr">
              <a:spcAft>
                <a:spcPts val="1200"/>
              </a:spcAft>
            </a:pPr>
            <a:r>
              <a:rPr sz="1100">
                <a:solidFill>
                  <a:srgbClr val="64748B"/>
                </a:solidFill>
                <a:latin typeface="Arial"/>
              </a:rPr>
              <a:t>¹Department of Artificial Intelligence and Machine Learning
²Assistant Professor, Department of Artificial Intelligence and Machine Learning
Vivekananda College of Engineering and Technology, Puttur, Karnataka, India</a:t>
            </a:r>
          </a:p>
          <a:p>
            <a:pPr algn="ctr"/>
            <a:r>
              <a:rPr sz="1050" b="1">
                <a:solidFill>
                  <a:srgbClr val="1E3A6E"/>
                </a:solidFill>
                <a:latin typeface="Arial"/>
              </a:rPr>
              <a:t>Hosted by: Srinivas Institute of Technology, Valachil, Mangaluru  •  Date: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248228223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CONTEXT &amp; PROBLEM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The Institutional Communication &amp; Placement Dilemma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3192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53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2240"/>
                </a:solidFill>
                <a:latin typeface="Arial"/>
              </a:rPr>
              <a:t>1. Fragmented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53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Decentralized Channels &amp; Missed Deadlines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53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Academic circulars, internal exam dates, and placement notices are scattered across WhatsApp, emails, and physical boards.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Leads to severe communication latency, information loss, student confusion, and missed critical application deadlines.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Students lack a centralized dashboard for tracked deadlines.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48840"/>
            <a:ext cx="33192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286000"/>
            <a:ext cx="2953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45309"/>
                </a:solidFill>
                <a:latin typeface="Arial"/>
              </a:rPr>
              <a:t>2. Faculty Exam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60320"/>
            <a:ext cx="2953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Manual Invigilation &amp; Timetable Conflicts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108960"/>
            <a:ext cx="2953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Heads of Departments (HODs) manually assign examination invigilation duties from raw schedule sheets.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High risk of timetable scheduling collisions, room overlap, and unequal faculty duty distributions.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No automated conflict detection or instantaneous duty notification mechanism for faculty members.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148840"/>
            <a:ext cx="33192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286000"/>
            <a:ext cx="29535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2240"/>
                </a:solidFill>
                <a:latin typeface="Arial"/>
              </a:rPr>
              <a:t>3. Manual Placement Screening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560320"/>
            <a:ext cx="2953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Unstructured Resumes &amp; Skill Blindspots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108960"/>
            <a:ext cx="2953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Placement cells manually screen hundreds of unstructured PDF resumes against company criteria.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Time-intensive, subjective evaluation without quantitative ATS scoring or benchmarked skill compatibility.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1000">
                <a:solidFill>
                  <a:srgbClr val="1E293B"/>
                </a:solidFill>
                <a:latin typeface="Arial"/>
              </a:rPr>
              <a:t>Students receive zero diagnostic feedback on missing technical proficiencies before recruitment drives.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240"/>
                </a:solidFill>
                <a:latin typeface="Arial"/>
              </a:rPr>
              <a:t>Research Gap &amp; Core Motivation: </a:t>
            </a:r>
            <a:r>
              <a:rPr sz="1050">
                <a:solidFill>
                  <a:srgbClr val="1E293B"/>
                </a:solidFill>
                <a:latin typeface="Arial"/>
              </a:rPr>
              <a:t>Existing solutions function in isolated silos (messaging apps vs. ERPs vs. job portals). Higher education institutions lack an integrated, intelligent platform that seamlessly connects real-time communication with automated document intelligence and predictive placement screening.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SYSTEM SCOPE &amp; KEY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Core Research Objectives (Supported by Paper)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9728" cy="7132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03704"/>
            <a:ext cx="7772400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F2240"/>
                </a:solidFill>
                <a:latin typeface="Arial"/>
              </a:rPr>
              <a:t>Objective 1: Timetable &amp; Circular Processing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Automatically extract examination dates, subjects, timings, and critical deadlines from uploaded PDF/image circulars and timetables using OCR and computer vision text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13432"/>
            <a:ext cx="22860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2240"/>
                </a:solidFill>
                <a:latin typeface="Arial"/>
              </a:rPr>
              <a:t>Vision Transformer &amp;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26664"/>
            <a:ext cx="7772400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F2240"/>
                </a:solidFill>
                <a:latin typeface="Arial"/>
              </a:rPr>
              <a:t>Objective 2: Faculty Examination Duty Management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Assist HODs in assigning faculty invigilation duties, detecting schedule clashes across halls/dates, and automatically dispatching digital duty allocations to faculty.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136392"/>
            <a:ext cx="22860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2240"/>
                </a:solidFill>
                <a:latin typeface="Arial"/>
              </a:rPr>
              <a:t>Automated Conflict Resolution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109728" cy="7132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9624"/>
            <a:ext cx="7772400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F2240"/>
                </a:solidFill>
                <a:latin typeface="Arial"/>
              </a:rPr>
              <a:t>Objective 3: Resume ATS Scoring &amp; Skill-Gap Analysis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Parse uploaded student resumes, extract technical skills/projects, evaluate profiles against company placement requirements using vector similarity, and provide ATS scores with skill-gap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959352"/>
            <a:ext cx="22860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2240"/>
                </a:solidFill>
                <a:latin typeface="Arial"/>
              </a:rPr>
              <a:t>LayoutLMv3 &amp; Cosine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61772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72584"/>
            <a:ext cx="7772400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F2240"/>
                </a:solidFill>
                <a:latin typeface="Arial"/>
              </a:rPr>
              <a:t>Objective 4: Real-Time Communication &amp; Reminders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Deliver instant in-app alerts, categorized deadline notifications (upcoming, due today, missed), and direct student-faculty-HOD messaging using persistent WebSocket channels.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782312"/>
            <a:ext cx="22860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2240"/>
                </a:solidFill>
                <a:latin typeface="Arial"/>
              </a:rPr>
              <a:t>WebSocket &amp; Redis Streams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440680"/>
            <a:ext cx="109728" cy="71323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95544"/>
            <a:ext cx="7772400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F2240"/>
                </a:solidFill>
                <a:latin typeface="Arial"/>
              </a:rPr>
              <a:t>Objective 5: Role-Based Institutional Dashboards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Provide dedicated, secure web interfaces for Students, Faculty, HODs, Placement Officers, and Administrators with strict JWT-enforced Role-Based Access Control (RBAC).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5605272"/>
            <a:ext cx="22860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2240"/>
                </a:solidFill>
                <a:latin typeface="Arial"/>
              </a:rPr>
              <a:t>Secure RBAC &amp; Multi-Portal 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SYSTEM FRAMEWORK &amp; TECHNICAL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EduMatrix Proposed Architecture &amp;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505456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2231136" cy="2752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0F2240"/>
                </a:solidFill>
                <a:latin typeface="Arial"/>
              </a:rPr>
              <a:t>Stage 1: Interface &amp; Ingestion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Heterogeneous Data Collection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Multi-Role Frontend: React, Vite, Tailwind CSS with JWT auth.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Academic Ingestion: Unstructured PDF/image circulars &amp; exam timetables.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Placement Ingestion: Student PDF resumes &amp; recruiter job descriptions.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Roster Data: Faculty departmental lists and course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148840"/>
            <a:ext cx="2505456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258568"/>
            <a:ext cx="2231136" cy="2752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B45309"/>
                </a:solidFill>
                <a:latin typeface="Arial"/>
              </a:rPr>
              <a:t>Stage 2: Vision &amp; OCR Pipeline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Document Preprocessing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Image Preprocessing: OpenCV grayscale, adaptive thresholding, denoising.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OCR Engine: Tesseract OCR extracts raw unstructured textual content.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Regex &amp; Parsing: Identifies course codes, session timings, and deadlines.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Cleaned metadata queued in PostgreSQL.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148840"/>
            <a:ext cx="2505456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258568"/>
            <a:ext cx="2231136" cy="2752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0F2240"/>
                </a:solidFill>
                <a:latin typeface="Arial"/>
              </a:rPr>
              <a:t>Stage 3: Machine Learning Engine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AI Models &amp; Analytics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Table Transformer: Vision Transformer detects table boundaries &amp; duty slots.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LayoutLMv3 + spaCy: Multimodal resume parsing &amp; technical skill extraction.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Cosine Similarity ATS Scoring: Compares candidate vector r against job vector j.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BERT &amp; DL Classifiers: Student intent classification &amp; sentiment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148840"/>
            <a:ext cx="2505456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2258568"/>
            <a:ext cx="2231136" cy="27523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>
                <a:solidFill>
                  <a:srgbClr val="B45309"/>
                </a:solidFill>
                <a:latin typeface="Arial"/>
              </a:rPr>
              <a:t>Stage 4: Real-Time Services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WebSocket &amp; Role Dashboards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Real-Time Delivery: WebSockets &amp; Redis for sub-second alert broadcasting.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Categorized Alerts: Upcoming, Due Today, and Missed academic deadlines.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Duty Allocation: Clash-free invigilation duty roster dispatched to faculty.</a:t>
            </a:r>
          </a:p>
          <a:p>
            <a:pPr>
              <a:spcAft>
                <a:spcPts val="5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19">
                <a:solidFill>
                  <a:srgbClr val="1E293B"/>
                </a:solidFill>
                <a:latin typeface="Arial"/>
              </a:rPr>
              <a:t>Placement Module: ATS scoring and skill-gap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2240"/>
                </a:solidFill>
                <a:latin typeface="Arial"/>
              </a:rPr>
              <a:t>Core ATS Match Formulation (Section II-B):   </a:t>
            </a:r>
            <a:r>
              <a:rPr b="1" sz="1150">
                <a:solidFill>
                  <a:srgbClr val="B45309"/>
                </a:solidFill>
                <a:latin typeface="Arial"/>
              </a:rPr>
              <a:t>ATS Score = [ ( r · j ) / ( ||r|| ||j|| + ε ) ] × 100
</a:t>
            </a:r>
            <a:r>
              <a:rPr sz="950">
                <a:solidFill>
                  <a:srgbClr val="1E293B"/>
                </a:solidFill>
                <a:latin typeface="Arial"/>
              </a:rPr>
              <a:t>Where r represents the extracted student resume feature vector, j represents the target company job requirement vector, and ε prevents division by zero to guarantee stable, objective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EMPIRICAL EVALUATION &amp; EXPERIMENTAL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Key Findings: Model Accuracy &amp; Operational Benchmarks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6217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240"/>
                </a:solidFill>
                <a:latin typeface="Arial"/>
              </a:rPr>
              <a:t>Table 2: Machine Learning Model Comparison (from Paper)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651760"/>
          <a:ext cx="5852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097280"/>
                <a:gridCol w="109728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  <a:p>
                      <a:r>
                        <a:t>Transformer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Resume</a:t>
                      </a:r>
                    </a:p>
                    <a:p>
                      <a:r>
                        <a:t>Parser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Intent</a:t>
                      </a:r>
                    </a:p>
                    <a:p>
                      <a:r>
                        <a:t>Classifier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Sentiment</a:t>
                      </a:r>
                    </a:p>
                    <a:p>
                      <a:r>
                        <a:t>Classifier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Model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Vision</a:t>
                      </a:r>
                    </a:p>
                    <a:p>
                      <a:r>
                        <a:t>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Document NLP</a:t>
                      </a:r>
                    </a:p>
                    <a:p>
                      <a:r>
                        <a:t>/ Multimodal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Fine-tuned</a:t>
                      </a:r>
                    </a:p>
                    <a:p>
                      <a:r>
                        <a:t>BERT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Deep Learning</a:t>
                      </a:r>
                    </a:p>
                    <a:p>
                      <a:r>
                        <a:t>NLP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Timetable / Table</a:t>
                      </a:r>
                    </a:p>
                    <a:p>
                      <a:r>
                        <a:t>Extraction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Resume Parsing</a:t>
                      </a:r>
                    </a:p>
                    <a:p>
                      <a:r>
                        <a:t>&amp; ATS Scoring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Student Query</a:t>
                      </a:r>
                    </a:p>
                    <a:p>
                      <a:r>
                        <a:t>Classification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Feedback</a:t>
                      </a:r>
                    </a:p>
                    <a:p>
                      <a:r>
                        <a:t>Analysis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Training Acc.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96.50%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96.20%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97.80%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95.40%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240"/>
                          </a:solidFill>
                          <a:latin typeface="Arial"/>
                        </a:rPr>
                        <a:t>Testing Acc.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240"/>
                          </a:solidFill>
                          <a:latin typeface="Arial"/>
                        </a:rPr>
                        <a:t>94.20%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240"/>
                          </a:solidFill>
                          <a:latin typeface="Arial"/>
                        </a:rPr>
                        <a:t>93.90%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240"/>
                          </a:solidFill>
                          <a:latin typeface="Arial"/>
                        </a:rPr>
                        <a:t>95.60%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2240"/>
                          </a:solidFill>
                          <a:latin typeface="Arial"/>
                        </a:rPr>
                        <a:t>93.10%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2148840"/>
            <a:ext cx="4297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240"/>
                </a:solidFill>
                <a:latin typeface="Arial"/>
              </a:rPr>
              <a:t>Key Experimental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0604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✔ 94.20% Table Detection Accuracy</a:t>
            </a:r>
          </a:p>
          <a:p>
            <a:pPr>
              <a:spcAft>
                <a:spcPts val="800"/>
              </a:spcAft>
            </a:pPr>
            <a:r>
              <a:rPr sz="919">
                <a:solidFill>
                  <a:srgbClr val="1E293B"/>
                </a:solidFill>
                <a:latin typeface="Arial"/>
              </a:rPr>
              <a:t>Vision Transformer successfully isolates table cells from complex academic circular layouts, eliminating schedule collisions during invigilation duty assignment.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✔ 93.90% Resume &amp; ATS Precision</a:t>
            </a:r>
          </a:p>
          <a:p>
            <a:pPr>
              <a:spcAft>
                <a:spcPts val="800"/>
              </a:spcAft>
            </a:pPr>
            <a:r>
              <a:rPr sz="919">
                <a:solidFill>
                  <a:srgbClr val="1E293B"/>
                </a:solidFill>
                <a:latin typeface="Arial"/>
              </a:rPr>
              <a:t>Multimodal extraction detects hard and soft competencies, reliably scoring candidate suitability against recruiter criteria without manual human bias.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✔ 95.60% Automated Query Resolution</a:t>
            </a:r>
          </a:p>
          <a:p>
            <a:pPr>
              <a:spcAft>
                <a:spcPts val="800"/>
              </a:spcAft>
            </a:pPr>
            <a:r>
              <a:rPr sz="919">
                <a:solidFill>
                  <a:srgbClr val="1E293B"/>
                </a:solidFill>
                <a:latin typeface="Arial"/>
              </a:rPr>
              <a:t>Fine-tuned BERT intent model routes institutional inquiries (exams, marks, eligibility) accurately, reducing administrative support ticket load.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59669"/>
                </a:solidFill>
                <a:latin typeface="Arial"/>
              </a:rPr>
              <a:t>✔ Zero-Latency Real-Time Alerts</a:t>
            </a:r>
          </a:p>
          <a:p>
            <a:pPr>
              <a:spcAft>
                <a:spcPts val="800"/>
              </a:spcAft>
            </a:pPr>
            <a:r>
              <a:rPr sz="919">
                <a:solidFill>
                  <a:srgbClr val="1E293B"/>
                </a:solidFill>
                <a:latin typeface="Arial"/>
              </a:rPr>
              <a:t>WebSockets deliver instantaneous notifications for deadline statuses (upcoming, due today, missed), ensuring 100% awareness across student cohorts.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CONFERENCE THEME: AI, ESG &amp; RESPONSIBLE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Practical, Organizational &amp; ESG Implications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46320" cy="165506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59669"/>
                </a:solidFill>
                <a:latin typeface="Arial"/>
              </a:rPr>
              <a:t>Environmental Sustainability (E in ESG)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Paperless Campus Governance &amp; Zero Physical Drag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59669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Automated PDF/image circular ingestion eliminates physical paper printing and manual board postings across departments.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59669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Digital deadline tracking and mobile/web notices minimize institutional carbon footprint and physical administrative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58568"/>
            <a:ext cx="4846320" cy="165506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240"/>
                </a:solidFill>
                <a:latin typeface="Arial"/>
              </a:rPr>
              <a:t>Social Responsibility &amp; Equity (S in ESG)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Faculty Well-Being &amp; Unbiased Career Mobility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Algorithmic invigilation assignment ensures balanced, conflict-free workload distribution, preventing faculty burnout.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Objective ATS resume scoring democratizes placement access, eliminating subjective hiring bias and exposing transparent skill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0248"/>
            <a:ext cx="4846320" cy="165506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B45309"/>
                </a:solidFill>
                <a:latin typeface="Arial"/>
              </a:rPr>
              <a:t>Responsible Governance (G in ESG)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Transparent, Auditable Institutional Operations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Strict Role-Based Access Control (RBAC) across 5 distinct portals ensures data segregation, security, and full accountability.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B45309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Placement coordinators gain real-time visibility into student readiness metrics, enabling targeted institutional training initiatives.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6052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70248"/>
            <a:ext cx="4846320" cy="165506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1">
                <a:solidFill>
                  <a:srgbClr val="0F2240"/>
                </a:solidFill>
                <a:latin typeface="Arial"/>
              </a:rPr>
              <a:t>Implementation Feasibility &amp; Limitations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Production Deployment on Standard Campus Infrastructure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Demonstrated on standard hardware (Intel Core i5, 8–16 GB RAM, PostgreSQL) without requiring expensive enterprise clusters.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F2240"/>
                </a:solidFill>
              </a:rPr>
              <a:t>• </a:t>
            </a:r>
            <a:r>
              <a:rPr sz="950">
                <a:solidFill>
                  <a:srgbClr val="1E293B"/>
                </a:solidFill>
                <a:latin typeface="Arial"/>
              </a:rPr>
              <a:t>Current Scope: Evaluated on institutional English document templates; future deployment requires multilingual regional circular parsing.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Times New Roman"/>
              </a:rPr>
              <a:t>International Conference on Innovative Pathways to Sustainable Business : AI, ESG &amp; Responsible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45309"/>
                </a:solidFill>
                <a:latin typeface="Arial"/>
              </a:rPr>
              <a:t>SUMMARY &amp; FUTURE HORIZONS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2240"/>
                </a:solidFill>
                <a:latin typeface="Arial"/>
              </a:rPr>
              <a:t>Conclusion and Research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120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2240"/>
                </a:solidFill>
                <a:latin typeface="Arial"/>
              </a:rPr>
              <a:t>Key Research Takeaways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59669"/>
                </a:solidFill>
              </a:rPr>
              <a:t>✔ </a:t>
            </a:r>
            <a:r>
              <a:rPr sz="950">
                <a:solidFill>
                  <a:srgbClr val="1E293B"/>
                </a:solidFill>
                <a:latin typeface="Arial"/>
              </a:rPr>
              <a:t>Unified Institutional Platform: EduMatrix bridges the critical disconnect between academic administration, faculty duty allocation, and student career readiness.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59669"/>
                </a:solidFill>
              </a:rPr>
              <a:t>✔ </a:t>
            </a:r>
            <a:r>
              <a:rPr sz="950">
                <a:solidFill>
                  <a:srgbClr val="1E293B"/>
                </a:solidFill>
                <a:latin typeface="Arial"/>
              </a:rPr>
              <a:t>High-Precision Document Intelligence: Demonstrated 94.20% accuracy in timetable extraction and 93.90% accuracy in automated ATS resume scoring.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59669"/>
                </a:solidFill>
              </a:rPr>
              <a:t>✔ </a:t>
            </a:r>
            <a:r>
              <a:rPr sz="950">
                <a:solidFill>
                  <a:srgbClr val="1E293B"/>
                </a:solidFill>
                <a:latin typeface="Arial"/>
              </a:rPr>
              <a:t>Operational Efficiency: Replaced fragmented WhatsApp/email channels with real-time WebSocket alerts, eliminating missed deadlines and invigilation clashes.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59669"/>
                </a:solidFill>
              </a:rPr>
              <a:t>✔ </a:t>
            </a:r>
            <a:r>
              <a:rPr sz="950">
                <a:solidFill>
                  <a:srgbClr val="1E293B"/>
                </a:solidFill>
                <a:latin typeface="Arial"/>
              </a:rPr>
              <a:t>Democratized Career Guidance: Empowers students with actionable skill-gap diagnostics and objective company compatibility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120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Future Research Directions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B45309"/>
                </a:solidFill>
              </a:rPr>
              <a:t>➔ </a:t>
            </a:r>
            <a:r>
              <a:rPr sz="950">
                <a:solidFill>
                  <a:srgbClr val="1E293B"/>
                </a:solidFill>
                <a:latin typeface="Arial"/>
              </a:rPr>
              <a:t>Multilingual Document Extraction: Integrating Indic NLP models to process state government and regional university circulars.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B45309"/>
                </a:solidFill>
              </a:rPr>
              <a:t>➔ </a:t>
            </a:r>
            <a:r>
              <a:rPr sz="950">
                <a:solidFill>
                  <a:srgbClr val="1E293B"/>
                </a:solidFill>
                <a:latin typeface="Arial"/>
              </a:rPr>
              <a:t>Cross-Campus Institutional Federation: Expanding the architecture to support multi-college university clusters and centralized placement pools.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B45309"/>
                </a:solidFill>
              </a:rPr>
              <a:t>➔ </a:t>
            </a:r>
            <a:r>
              <a:rPr sz="950">
                <a:solidFill>
                  <a:srgbClr val="1E293B"/>
                </a:solidFill>
                <a:latin typeface="Arial"/>
              </a:rPr>
              <a:t>AI Mock Interview &amp; Voice Evaluation: Incorporating conversational speech-to-text models to simulate real-time technical interviews and evaluate soft skills.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B45309"/>
                </a:solidFill>
              </a:rPr>
              <a:t>➔ </a:t>
            </a:r>
            <a:r>
              <a:rPr sz="950">
                <a:solidFill>
                  <a:srgbClr val="1E293B"/>
                </a:solidFill>
                <a:latin typeface="Arial"/>
              </a:rPr>
              <a:t>Predictive Placement Forecasting: Machine learning models to track longitudinal student academic trajectories and predict multi-tier hiring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1">
                <a:solidFill>
                  <a:srgbClr val="0F2240"/>
                </a:solidFill>
                <a:latin typeface="Arial"/>
              </a:rPr>
              <a:t>Thank You for Your Time and Attention!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We warmly invite Questions, Feedback, and Discussion.
Presenting Author: Rithesh N D  •  VCET Puttur  •  Email: pushanthsb@gmail.com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2026-10-07T14:51:07Z</dcterms:created>
  <dcterms:modified xsi:type="dcterms:W3CDTF">2026-10-07T15:36:11Z</dcterms:modified>
</cp:coreProperties>
</file>